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B4D8"/>
                </a:solidFill>
                <a:latin typeface="微软雅黑"/>
              </a:defRPr>
            </a:pPr>
            <a:r>
              <a:t>SynerGist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DNN 模型分割与分布式推理调度系统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8C0"/>
                </a:solidFill>
                <a:latin typeface="微软雅黑"/>
              </a:defRPr>
            </a:pPr>
            <a:r>
              <a:t>Synergy + Gist — 在多边缘服务器间实现模型推理的协同精髓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1600" b="0">
                <a:solidFill>
                  <a:srgbClr val="90E0EF"/>
                </a:solidFill>
                <a:latin typeface="微软雅黑"/>
              </a:defRPr>
            </a:pPr>
            <a:r>
              <a:t>▸  基于 VGG5 的按层模型分割与链式推理</a:t>
            </a:r>
          </a:p>
          <a:p>
            <a:pPr>
              <a:spcAft>
                <a:spcPts val="2400"/>
              </a:spcAft>
              <a:defRPr sz="1600" b="0">
                <a:solidFill>
                  <a:srgbClr val="90E0EF"/>
                </a:solidFill>
                <a:latin typeface="微软雅黑"/>
              </a:defRPr>
            </a:pPr>
            <a:r>
              <a:t>▸  PPO 强化学习自动学习最优分割策略</a:t>
            </a:r>
          </a:p>
          <a:p>
            <a:pPr>
              <a:spcAft>
                <a:spcPts val="2400"/>
              </a:spcAft>
              <a:defRPr sz="1600" b="0">
                <a:solidFill>
                  <a:srgbClr val="90E0EF"/>
                </a:solidFill>
                <a:latin typeface="微软雅黑"/>
              </a:defRPr>
            </a:pPr>
            <a:r>
              <a:t>▸  资源感知的动态分割点选择</a:t>
            </a:r>
          </a:p>
          <a:p>
            <a:pPr>
              <a:spcAft>
                <a:spcPts val="2400"/>
              </a:spcAft>
              <a:defRPr sz="1600" b="0">
                <a:solidFill>
                  <a:srgbClr val="90E0EF"/>
                </a:solidFill>
                <a:latin typeface="微软雅黑"/>
              </a:defRPr>
            </a:pPr>
            <a:r>
              <a:t>▸  边缘子任务调度算法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项目概览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10312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微软雅黑"/>
              </a:defRPr>
            </a:pPr>
            <a: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核心目标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将完整 DNN 模型按层分割</a:t>
            </a:r>
          </a:p>
          <a:p>
            <a:pPr>
              <a:spcAft>
                <a:spcPts val="20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到多个边缘节点协同推理</a:t>
            </a:r>
          </a:p>
          <a:p>
            <a:pPr>
              <a:spcAft>
                <a:spcPts val="20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通过 RL 自动学习分割策略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210312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A500"/>
                </a:solidFill>
                <a:latin typeface="微软雅黑"/>
              </a:defRPr>
            </a:pPr>
            <a: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实验模型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VGG5 (简化版) — 共 7 层</a:t>
            </a:r>
          </a:p>
          <a:p>
            <a:pPr>
              <a:spcAft>
                <a:spcPts val="20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3 Conv + 2 MaxPool + 2 Dense</a:t>
            </a:r>
          </a:p>
          <a:p>
            <a:pPr>
              <a:spcAft>
                <a:spcPts val="20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数据集：CIFAR-10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291840" cy="210312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676"/>
                </a:solidFill>
                <a:latin typeface="微软雅黑"/>
              </a:defRPr>
            </a:pPr>
            <a:r>
              <a:t>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通信协议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3172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TCP Socket + Pickle 序列化</a:t>
            </a:r>
          </a:p>
          <a:p>
            <a:pPr>
              <a:spcAft>
                <a:spcPts val="20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4 字节大端长度头 + 消息体</a:t>
            </a:r>
          </a:p>
          <a:p>
            <a:pPr>
              <a:spcAft>
                <a:spcPts val="20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链式前向传递中间激活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3291840" cy="210312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389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BB86FC"/>
                </a:solidFill>
                <a:latin typeface="微软雅黑"/>
              </a:defRPr>
            </a:pPr>
            <a: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分割策略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9204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随机分割：随机选择中间层</a:t>
            </a:r>
          </a:p>
          <a:p>
            <a:pPr>
              <a:spcAft>
                <a:spcPts val="20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资源感知：CPU/内存/网络感知</a:t>
            </a:r>
          </a:p>
          <a:p>
            <a:pPr>
              <a:spcAft>
                <a:spcPts val="20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RL (PPO)：自动优化分割点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206240"/>
            <a:ext cx="3291840" cy="210312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4389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微软雅黑"/>
              </a:defRPr>
            </a:pPr>
            <a: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强化学习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89204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PPO (Actor-Critic) 算法</a:t>
            </a:r>
          </a:p>
          <a:p>
            <a:pPr>
              <a:spcAft>
                <a:spcPts val="20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滑窗状态衍生 (维度×3)</a:t>
            </a:r>
          </a:p>
          <a:p>
            <a:pPr>
              <a:spcAft>
                <a:spcPts val="20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DQN / Dueling DQN 备选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206240"/>
            <a:ext cx="3291840" cy="210312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389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A500"/>
                </a:solidFill>
                <a:latin typeface="微软雅黑"/>
              </a:defRPr>
            </a:pPr>
            <a:r>
              <a:t>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技术栈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89204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PyTorch · Paramiko · Scikit-learn</a:t>
            </a:r>
          </a:p>
          <a:p>
            <a:pPr>
              <a:spcAft>
                <a:spcPts val="20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Socket · Matplotlib · NumPy</a:t>
            </a:r>
          </a:p>
          <a:p>
            <a:pPr>
              <a:spcAft>
                <a:spcPts val="20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Python 3.8+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项目结构总览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94960" cy="502920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300" b="0">
                <a:solidFill>
                  <a:srgbClr val="90E0EF"/>
                </a:solidFill>
                <a:latin typeface="Consolas"/>
              </a:defRPr>
            </a:pPr>
            <a:r>
              <a:t>Partition_Scheduling/</a:t>
            </a:r>
          </a:p>
          <a:p>
            <a:pPr>
              <a:spcAft>
                <a:spcPts val="1800"/>
              </a:spcAft>
              <a:defRPr sz="1300" b="0">
                <a:solidFill>
                  <a:srgbClr val="90E0EF"/>
                </a:solidFill>
                <a:latin typeface="Consolas"/>
              </a:defRPr>
            </a:pPr>
            <a:r>
              <a:t>├── config.py                    全局配置</a:t>
            </a:r>
          </a:p>
          <a:p>
            <a:pPr>
              <a:spcAft>
                <a:spcPts val="1800"/>
              </a:spcAft>
              <a:defRPr sz="1300" b="0">
                <a:solidFill>
                  <a:srgbClr val="90E0EF"/>
                </a:solidFill>
                <a:latin typeface="Consolas"/>
              </a:defRPr>
            </a:pPr>
            <a:r>
              <a:t>├── server.py                    服务端入口</a:t>
            </a:r>
          </a:p>
          <a:p>
            <a:pPr>
              <a:spcAft>
                <a:spcPts val="1800"/>
              </a:spcAft>
              <a:defRPr sz="1300" b="0">
                <a:solidFill>
                  <a:srgbClr val="90E0EF"/>
                </a:solidFill>
                <a:latin typeface="Consolas"/>
              </a:defRPr>
            </a:pPr>
            <a:r>
              <a:t>├── client.py                    客户端入口</a:t>
            </a:r>
          </a:p>
          <a:p>
            <a:pPr>
              <a:spcAft>
                <a:spcPts val="1800"/>
              </a:spcAft>
              <a:defRPr sz="1300" b="0">
                <a:solidFill>
                  <a:srgbClr val="90E0EF"/>
                </a:solidFill>
                <a:latin typeface="Consolas"/>
              </a:defRPr>
            </a:pPr>
            <a:r>
              <a:t>├── utils.py                     工具函数</a:t>
            </a:r>
          </a:p>
          <a:p>
            <a:pPr>
              <a:spcAft>
                <a:spcPts val="1800"/>
              </a:spcAft>
              <a:defRPr sz="1300" b="0">
                <a:solidFill>
                  <a:srgbClr val="90E0EF"/>
                </a:solidFill>
                <a:latin typeface="Consolas"/>
              </a:defRPr>
            </a:pPr>
            <a:r>
              <a:t>├── Scheduling.py                子任务调度</a:t>
            </a:r>
          </a:p>
          <a:p>
            <a:pPr>
              <a:spcAft>
                <a:spcPts val="1800"/>
              </a:spcAft>
              <a:defRPr sz="1300" b="0">
                <a:solidFill>
                  <a:srgbClr val="90E0EF"/>
                </a:solidFill>
                <a:latin typeface="Consolas"/>
              </a:defRPr>
            </a:pPr>
            <a:r>
              <a:t>├── models/</a:t>
            </a:r>
          </a:p>
          <a:p>
            <a:pPr>
              <a:spcAft>
                <a:spcPts val="1800"/>
              </a:spcAft>
              <a:defRPr sz="1300" b="0">
                <a:solidFill>
                  <a:srgbClr val="90E0EF"/>
                </a:solidFill>
                <a:latin typeface="Consolas"/>
              </a:defRPr>
            </a:pPr>
            <a:r>
              <a:t>│   ├── model_struct.py          层元数据</a:t>
            </a:r>
          </a:p>
          <a:p>
            <a:pPr>
              <a:spcAft>
                <a:spcPts val="1800"/>
              </a:spcAft>
              <a:defRPr sz="1300" b="0">
                <a:solidFill>
                  <a:srgbClr val="90E0EF"/>
                </a:solidFill>
                <a:latin typeface="Consolas"/>
              </a:defRPr>
            </a:pPr>
            <a:r>
              <a:t>│   └── vgg5/vgg5.py             可分割VGG5</a:t>
            </a:r>
          </a:p>
          <a:p>
            <a:pPr>
              <a:spcAft>
                <a:spcPts val="1800"/>
              </a:spcAft>
              <a:defRPr sz="1300" b="0">
                <a:solidFill>
                  <a:srgbClr val="90E0EF"/>
                </a:solidFill>
                <a:latin typeface="Consolas"/>
              </a:defRPr>
            </a:pPr>
            <a:r>
              <a:t>├── communication/</a:t>
            </a:r>
          </a:p>
          <a:p>
            <a:pPr>
              <a:spcAft>
                <a:spcPts val="1800"/>
              </a:spcAft>
              <a:defRPr sz="1300" b="0">
                <a:solidFill>
                  <a:srgbClr val="90E0EF"/>
                </a:solidFill>
                <a:latin typeface="Consolas"/>
              </a:defRPr>
            </a:pPr>
            <a:r>
              <a:t>│   ├── communicator.py          Socket通信</a:t>
            </a:r>
          </a:p>
          <a:p>
            <a:pPr>
              <a:spcAft>
                <a:spcPts val="1800"/>
              </a:spcAft>
              <a:defRPr sz="1300" b="0">
                <a:solidFill>
                  <a:srgbClr val="90E0EF"/>
                </a:solidFill>
                <a:latin typeface="Consolas"/>
              </a:defRPr>
            </a:pPr>
            <a:r>
              <a:t>│   ├── demo_json/               JSON示例</a:t>
            </a:r>
          </a:p>
          <a:p>
            <a:pPr>
              <a:spcAft>
                <a:spcPts val="1800"/>
              </a:spcAft>
              <a:defRPr sz="1300" b="0">
                <a:solidFill>
                  <a:srgbClr val="90E0EF"/>
                </a:solidFill>
                <a:latin typeface="Consolas"/>
              </a:defRPr>
            </a:pPr>
            <a:r>
              <a:t>│   └── demo_send/               链式推理演示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94960" cy="502920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46304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300" b="0">
                <a:solidFill>
                  <a:srgbClr val="90E0EF"/>
                </a:solidFill>
                <a:latin typeface="Consolas"/>
              </a:defRPr>
            </a:pPr>
            <a:r>
              <a:t>├── strategy/</a:t>
            </a:r>
          </a:p>
          <a:p>
            <a:pPr>
              <a:spcAft>
                <a:spcPts val="1800"/>
              </a:spcAft>
              <a:defRPr sz="1300" b="0">
                <a:solidFill>
                  <a:srgbClr val="90E0EF"/>
                </a:solidFill>
                <a:latin typeface="Consolas"/>
              </a:defRPr>
            </a:pPr>
            <a:r>
              <a:t>│   ├── segment_strategy.py      分割策略</a:t>
            </a:r>
          </a:p>
          <a:p>
            <a:pPr>
              <a:spcAft>
                <a:spcPts val="1800"/>
              </a:spcAft>
              <a:defRPr sz="1300" b="0">
                <a:solidFill>
                  <a:srgbClr val="90E0EF"/>
                </a:solidFill>
                <a:latin typeface="Consolas"/>
              </a:defRPr>
            </a:pPr>
            <a:r>
              <a:t>│   └── resource_utilization.py  资源采集</a:t>
            </a:r>
          </a:p>
          <a:p>
            <a:pPr>
              <a:spcAft>
                <a:spcPts val="1800"/>
              </a:spcAft>
              <a:defRPr sz="1300" b="0">
                <a:solidFill>
                  <a:srgbClr val="90E0EF"/>
                </a:solidFill>
                <a:latin typeface="Consolas"/>
              </a:defRPr>
            </a:pPr>
            <a:r>
              <a:t>├── RL/                          PPO主模块</a:t>
            </a:r>
          </a:p>
          <a:p>
            <a:pPr>
              <a:spcAft>
                <a:spcPts val="1800"/>
              </a:spcAft>
              <a:defRPr sz="1300" b="0">
                <a:solidFill>
                  <a:srgbClr val="90E0EF"/>
                </a:solidFill>
                <a:latin typeface="Consolas"/>
              </a:defRPr>
            </a:pPr>
            <a:r>
              <a:t>│   ├── PPO.py / RLEnv.py</a:t>
            </a:r>
          </a:p>
          <a:p>
            <a:pPr>
              <a:spcAft>
                <a:spcPts val="1800"/>
              </a:spcAft>
              <a:defRPr sz="1300" b="0">
                <a:solidFill>
                  <a:srgbClr val="90E0EF"/>
                </a:solidFill>
                <a:latin typeface="Consolas"/>
              </a:defRPr>
            </a:pPr>
            <a:r>
              <a:t>│   ├── RL_serverrun.py / clientrun.py</a:t>
            </a:r>
          </a:p>
          <a:p>
            <a:pPr>
              <a:spcAft>
                <a:spcPts val="1800"/>
              </a:spcAft>
              <a:defRPr sz="1300" b="0">
                <a:solidFill>
                  <a:srgbClr val="90E0EF"/>
                </a:solidFill>
                <a:latin typeface="Consolas"/>
              </a:defRPr>
            </a:pPr>
            <a:r>
              <a:t>│   └── state_derivation.py      状态衍生</a:t>
            </a:r>
          </a:p>
          <a:p>
            <a:pPr>
              <a:spcAft>
                <a:spcPts val="1800"/>
              </a:spcAft>
              <a:defRPr sz="1300" b="0">
                <a:solidFill>
                  <a:srgbClr val="90E0EF"/>
                </a:solidFill>
                <a:latin typeface="Consolas"/>
              </a:defRPr>
            </a:pPr>
            <a:r>
              <a:t>├── RL_multiple/                 多客户端变体</a:t>
            </a:r>
          </a:p>
          <a:p>
            <a:pPr>
              <a:spcAft>
                <a:spcPts val="1800"/>
              </a:spcAft>
              <a:defRPr sz="1300" b="0">
                <a:solidFill>
                  <a:srgbClr val="90E0EF"/>
                </a:solidFill>
                <a:latin typeface="Consolas"/>
              </a:defRPr>
            </a:pPr>
            <a:r>
              <a:t>├── RL_IAF/                      IAF变体</a:t>
            </a:r>
          </a:p>
          <a:p>
            <a:pPr>
              <a:spcAft>
                <a:spcPts val="1800"/>
              </a:spcAft>
              <a:defRPr sz="1300" b="0">
                <a:solidFill>
                  <a:srgbClr val="90E0EF"/>
                </a:solidFill>
                <a:latin typeface="Consolas"/>
              </a:defRPr>
            </a:pPr>
            <a:r>
              <a:t>├── local_inference/             本地实验集</a:t>
            </a:r>
          </a:p>
          <a:p>
            <a:pPr>
              <a:spcAft>
                <a:spcPts val="1800"/>
              </a:spcAft>
              <a:defRPr sz="1300" b="0">
                <a:solidFill>
                  <a:srgbClr val="90E0EF"/>
                </a:solidFill>
                <a:latin typeface="Consolas"/>
              </a:defRPr>
            </a:pPr>
            <a:r>
              <a:t>│   ├── RL/  (DQN变体)</a:t>
            </a:r>
          </a:p>
          <a:p>
            <a:pPr>
              <a:spcAft>
                <a:spcPts val="1800"/>
              </a:spcAft>
              <a:defRPr sz="1300" b="0">
                <a:solidFill>
                  <a:srgbClr val="90E0EF"/>
                </a:solidFill>
                <a:latin typeface="Consolas"/>
              </a:defRPr>
            </a:pPr>
            <a:r>
              <a:t>│   ├── single_data_from_server/</a:t>
            </a:r>
          </a:p>
          <a:p>
            <a:pPr>
              <a:spcAft>
                <a:spcPts val="1800"/>
              </a:spcAft>
              <a:defRPr sz="1300" b="0">
                <a:solidFill>
                  <a:srgbClr val="90E0EF"/>
                </a:solidFill>
                <a:latin typeface="Consolas"/>
              </a:defRPr>
            </a:pPr>
            <a:r>
              <a:t>│   └── multiple_task_from_server/</a:t>
            </a:r>
          </a:p>
          <a:p>
            <a:pPr>
              <a:spcAft>
                <a:spcPts val="1800"/>
              </a:spcAft>
              <a:defRPr sz="1300" b="0">
                <a:solidFill>
                  <a:srgbClr val="90E0EF"/>
                </a:solidFill>
                <a:latin typeface="Consolas"/>
              </a:defRPr>
            </a:pPr>
            <a:r>
              <a:t>└── scientific_research_drawing/ 科研绘图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共 103 个文件 ·  96 个 .py  ·  5 个 .md  ·  1 个 requirements.txt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核心概念 — 模型分割 (Model Partitioning)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5943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914400"/>
                <a:gridCol w="1005840"/>
                <a:gridCol w="1005840"/>
                <a:gridCol w="228600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117"/>
                          </a:solidFill>
                          <a:latin typeface="微软雅黑"/>
                        </a:defRPr>
                      </a:pPr>
                      <a:r>
                        <a:t>层索引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117"/>
                          </a:solidFill>
                          <a:latin typeface="微软雅黑"/>
                        </a:defRPr>
                      </a:pPr>
                      <a:r>
                        <a:t>类型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117"/>
                          </a:solidFill>
                          <a:latin typeface="微软雅黑"/>
                        </a:defRPr>
                      </a:pPr>
                      <a:r>
                        <a:t>输入通道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117"/>
                          </a:solidFill>
                          <a:latin typeface="微软雅黑"/>
                        </a:defRPr>
                      </a:pPr>
                      <a:r>
                        <a:t>输出通道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D1117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Conv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卷积 + BN + ReLU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41B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MaxPool</a:t>
                      </a:r>
                    </a:p>
                  </a:txBody>
                  <a:tcPr anchor="ctr">
                    <a:solidFill>
                      <a:srgbClr val="141B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141B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141B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最大池化</a:t>
                      </a:r>
                    </a:p>
                  </a:txBody>
                  <a:tcPr anchor="ctr">
                    <a:solidFill>
                      <a:srgbClr val="141B2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Conv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卷积 + BN + ReLU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41B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MaxPool</a:t>
                      </a:r>
                    </a:p>
                  </a:txBody>
                  <a:tcPr anchor="ctr">
                    <a:solidFill>
                      <a:srgbClr val="141B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141B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141B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最大池化</a:t>
                      </a:r>
                    </a:p>
                  </a:txBody>
                  <a:tcPr anchor="ctr">
                    <a:solidFill>
                      <a:srgbClr val="141B2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Conv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卷积 + BN + ReLU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141B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Dense</a:t>
                      </a:r>
                    </a:p>
                  </a:txBody>
                  <a:tcPr anchor="ctr">
                    <a:solidFill>
                      <a:srgbClr val="141B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4096</a:t>
                      </a:r>
                    </a:p>
                  </a:txBody>
                  <a:tcPr anchor="ctr">
                    <a:solidFill>
                      <a:srgbClr val="141B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128</a:t>
                      </a:r>
                    </a:p>
                  </a:txBody>
                  <a:tcPr anchor="ctr">
                    <a:solidFill>
                      <a:srgbClr val="141B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全连接</a:t>
                      </a:r>
                    </a:p>
                  </a:txBody>
                  <a:tcPr anchor="ctr">
                    <a:solidFill>
                      <a:srgbClr val="141B2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Dense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128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输出（10 分类）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132320" y="1463040"/>
            <a:ext cx="4572000" cy="320040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/>
              </a:defRPr>
            </a:pPr>
            <a:r>
              <a:t>分割示意图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01168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100" b="0">
                <a:solidFill>
                  <a:srgbClr val="90E0EF"/>
                </a:solidFill>
                <a:latin typeface="Consolas"/>
              </a:defRPr>
            </a:pPr>
            <a:r>
              <a:t>┌──────────────┐      ┌──────────────┐      ┌──────────────┐</a:t>
            </a:r>
          </a:p>
          <a:p>
            <a:pPr>
              <a:spcAft>
                <a:spcPts val="1500"/>
              </a:spcAft>
              <a:defRPr sz="1100" b="0">
                <a:solidFill>
                  <a:srgbClr val="90E0EF"/>
                </a:solidFill>
                <a:latin typeface="Consolas"/>
              </a:defRPr>
            </a:pPr>
            <a:r>
              <a:t>│   设备 1      │ ───▶ │   设备 2      │ ───▶ │   设备 3      │</a:t>
            </a:r>
          </a:p>
          <a:p>
            <a:pPr>
              <a:spcAft>
                <a:spcPts val="1500"/>
              </a:spcAft>
              <a:defRPr sz="1100" b="0">
                <a:solidFill>
                  <a:srgbClr val="90E0EF"/>
                </a:solidFill>
                <a:latin typeface="Consolas"/>
              </a:defRPr>
            </a:pPr>
            <a:r>
              <a:t>│  第 0-1 层    │      │  第 2-3 层    │      │  第 4-6 层    │</a:t>
            </a:r>
          </a:p>
          <a:p>
            <a:pPr>
              <a:spcAft>
                <a:spcPts val="1500"/>
              </a:spcAft>
              <a:defRPr sz="1100" b="0">
                <a:solidFill>
                  <a:srgbClr val="90E0EF"/>
                </a:solidFill>
                <a:latin typeface="Consolas"/>
              </a:defRPr>
            </a:pPr>
            <a:r>
              <a:t>│ (Conv+Pool)   │      │ (Conv+Pool)   │      │ (Conv+Dense)  │</a:t>
            </a:r>
          </a:p>
          <a:p>
            <a:pPr>
              <a:spcAft>
                <a:spcPts val="1500"/>
              </a:spcAft>
              <a:defRPr sz="1100" b="0">
                <a:solidFill>
                  <a:srgbClr val="90E0EF"/>
                </a:solidFill>
                <a:latin typeface="Consolas"/>
              </a:defRPr>
            </a:pPr>
            <a:r>
              <a:t>└──────────────┘      └──────────────┘      └──────────────┘</a:t>
            </a:r>
          </a:p>
          <a:p>
            <a:pPr>
              <a:spcAft>
                <a:spcPts val="1500"/>
              </a:spcAft>
              <a:defRPr sz="1100" b="0">
                <a:solidFill>
                  <a:srgbClr val="90E0EF"/>
                </a:solidFill>
                <a:latin typeface="Consolas"/>
              </a:defRPr>
            </a:pPr>
            <a:r>
              <a:t>     输入                 中间激活               最终输出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37760"/>
            <a:ext cx="10972800" cy="137160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  <a:latin typeface="微软雅黑"/>
              </a:defRPr>
            </a:pPr>
            <a:r>
              <a:t>三种分割策略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① 随机分割 — 在可选层中随机选择 N-1 个分割点，用于基线对比</a:t>
            </a:r>
          </a:p>
          <a:p>
            <a:pPr>
              <a:spcAft>
                <a:spcPts val="18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② 资源感知分割 — 通过 SSH 采集 CPU/内存/网络利用率，将计算量大的层分配给资源充足的节点</a:t>
            </a:r>
          </a:p>
          <a:p>
            <a:pPr>
              <a:spcAft>
                <a:spcPts val="18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③ PPO 强化学习 — 使用 Actor-Critic 网络自动学习最优分割策略（核心方法）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分布式推理架构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463040"/>
            <a:ext cx="3200400" cy="201168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/>
              </a:defRPr>
            </a:pPr>
            <a:r>
              <a:t>server.py  (协调端)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116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 b="0">
                <a:solidFill>
                  <a:srgbClr val="B0B8C0"/>
                </a:solidFill>
                <a:latin typeface="微软雅黑"/>
              </a:defRPr>
            </a:pPr>
            <a:r>
              <a:t>1. SSH 采集所有节点资源</a:t>
            </a:r>
          </a:p>
          <a:p>
            <a:pPr>
              <a:spcAft>
                <a:spcPts val="1600"/>
              </a:spcAft>
              <a:defRPr sz="1300" b="0">
                <a:solidFill>
                  <a:srgbClr val="B0B8C0"/>
                </a:solidFill>
                <a:latin typeface="微软雅黑"/>
              </a:defRPr>
            </a:pPr>
            <a:r>
              <a:t>2. 资源感知计算分割点</a:t>
            </a:r>
          </a:p>
          <a:p>
            <a:pPr>
              <a:spcAft>
                <a:spcPts val="1600"/>
              </a:spcAft>
              <a:defRPr sz="1300" b="0">
                <a:solidFill>
                  <a:srgbClr val="B0B8C0"/>
                </a:solidFill>
                <a:latin typeface="微软雅黑"/>
              </a:defRPr>
            </a:pPr>
            <a:r>
              <a:t>3. 加载 CIFAR-10 数据</a:t>
            </a:r>
          </a:p>
          <a:p>
            <a:pPr>
              <a:spcAft>
                <a:spcPts val="1600"/>
              </a:spcAft>
              <a:defRPr sz="1300" b="0">
                <a:solidFill>
                  <a:srgbClr val="B0B8C0"/>
                </a:solidFill>
                <a:latin typeface="微软雅黑"/>
              </a:defRPr>
            </a:pPr>
            <a:r>
              <a:t>4. Socket 发送至链首客户端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463040"/>
            <a:ext cx="5029200" cy="137160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微软雅黑"/>
              </a:defRPr>
            </a:pPr>
            <a:r>
              <a:t>client.py 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0"/>
                </a:solidFill>
                <a:latin typeface="微软雅黑"/>
              </a:defRPr>
            </a:pPr>
            <a:r>
              <a:t>执行第 0-1 层  |  Conv + Pool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E0EF"/>
                </a:solidFill>
                <a:latin typeface="微软雅黑"/>
              </a:defRPr>
            </a:pPr>
            <a:r>
              <a:t>→ 转发中间激活给下一节点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291840"/>
            <a:ext cx="5029200" cy="137160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微软雅黑"/>
              </a:defRPr>
            </a:pPr>
            <a:r>
              <a:t>client.py 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749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0"/>
                </a:solidFill>
                <a:latin typeface="微软雅黑"/>
              </a:defRPr>
            </a:pPr>
            <a:r>
              <a:t>执行第 2-3 层  |  Conv + Pool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E0EF"/>
                </a:solidFill>
                <a:latin typeface="微软雅黑"/>
              </a:defRPr>
            </a:pPr>
            <a:r>
              <a:t>→ 转发中间激活给下一节点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5120640"/>
            <a:ext cx="5029200" cy="137160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  <a:latin typeface="微软雅黑"/>
              </a:defRPr>
            </a:pPr>
            <a:r>
              <a:t>client.py #3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0"/>
                </a:solidFill>
                <a:latin typeface="微软雅黑"/>
              </a:defRPr>
            </a:pPr>
            <a:r>
              <a:t>执行第 4-6 层  |  Conv + Dense → loss/acc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0116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微软雅黑"/>
              </a:defRPr>
            </a:pPr>
            <a:r>
              <a:t>Socket ──▶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2560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微软雅黑"/>
              </a:defRPr>
            </a:pPr>
            <a: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4389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微软雅黑"/>
              </a:defRPr>
            </a:pPr>
            <a: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3840480"/>
            <a:ext cx="3200400" cy="256032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B86FC"/>
                </a:solidFill>
                <a:latin typeface="微软雅黑"/>
              </a:defRPr>
            </a:pPr>
            <a:r>
              <a:t>通信协议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4348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B0B8C0"/>
                </a:solidFill>
                <a:latin typeface="Consolas"/>
              </a:defRPr>
            </a:pPr>
            <a:r>
              <a:t>[4字节大端长度头]</a:t>
            </a:r>
          </a:p>
          <a:p>
            <a:pPr>
              <a:spcAft>
                <a:spcPts val="1400"/>
              </a:spcAft>
              <a:defRPr sz="1200" b="0">
                <a:solidFill>
                  <a:srgbClr val="B0B8C0"/>
                </a:solidFill>
                <a:latin typeface="Consolas"/>
              </a:defRPr>
            </a:pPr>
            <a:r>
              <a:t>  + [Pickle序列化消息体]</a:t>
            </a:r>
          </a:p>
          <a:p>
            <a:pPr>
              <a:spcAft>
                <a:spcPts val="1400"/>
              </a:spcAft>
              <a:defRPr sz="1200" b="0">
                <a:solidFill>
                  <a:srgbClr val="B0B8C0"/>
                </a:solidFill>
                <a:latin typeface="Consolas"/>
              </a:defRPr>
            </a:pPr>
          </a:p>
          <a:p>
            <a:pPr>
              <a:spcAft>
                <a:spcPts val="1400"/>
              </a:spcAft>
              <a:defRPr sz="1200" b="0">
                <a:solidFill>
                  <a:srgbClr val="B0B8C0"/>
                </a:solidFill>
                <a:latin typeface="Consolas"/>
              </a:defRPr>
            </a:pPr>
            <a:r>
              <a:t>消息体：Python 列表</a:t>
            </a:r>
          </a:p>
          <a:p>
            <a:pPr>
              <a:spcAft>
                <a:spcPts val="1400"/>
              </a:spcAft>
              <a:defRPr sz="1200" b="0">
                <a:solidFill>
                  <a:srgbClr val="B0B8C0"/>
                </a:solidFill>
                <a:latin typeface="Consolas"/>
              </a:defRPr>
            </a:pPr>
            <a:r>
              <a:t>首元素：消息类型字符串</a:t>
            </a:r>
          </a:p>
          <a:p>
            <a:pPr>
              <a:spcAft>
                <a:spcPts val="1400"/>
              </a:spcAft>
              <a:defRPr sz="1200" b="0">
                <a:solidFill>
                  <a:srgbClr val="B0B8C0"/>
                </a:solidFill>
                <a:latin typeface="Consolas"/>
              </a:defRPr>
            </a:pPr>
            <a:r>
              <a:t>后续元素：数据/张量/配置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PPO 强化学习自动分割策略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118872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/>
              </a:defRPr>
            </a:pPr>
            <a:r>
              <a:t>PPO Clip 目标函数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0E0EF"/>
                </a:solidFill>
                <a:latin typeface="Consolas"/>
              </a:defRPr>
            </a:pPr>
            <a:r>
              <a:t>L_CLIP(θ) = E[ min( r(θ)·A,  clip( r(θ), 1-ε, 1+ε )·A ) ]      r(θ) = π_θ(a|s) / π_θ_old(a|s),   ε=0.2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3291840" cy="182880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微软雅黑"/>
              </a:defRPr>
            </a:pPr>
            <a: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状态 (State)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118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推理时间 + 卸载比例</a:t>
            </a:r>
          </a:p>
          <a:p>
            <a:pPr>
              <a:spcAft>
                <a:spcPts val="20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经状态衍生增强为 3 倍维度</a:t>
            </a:r>
          </a:p>
          <a:p>
            <a:pPr>
              <a:spcAft>
                <a:spcPts val="20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= [当前值, 历史均值, 变化趋势]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926080"/>
            <a:ext cx="3291840" cy="182880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108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A500"/>
                </a:solidFill>
                <a:latin typeface="微软雅黑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动作 (Action)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6118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连续值 → Sigmoid → [0,1]</a:t>
            </a:r>
          </a:p>
          <a:p>
            <a:pPr>
              <a:spcAft>
                <a:spcPts val="20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映射为每组客户端的分割层</a:t>
            </a:r>
          </a:p>
          <a:p>
            <a:pPr>
              <a:spcAft>
                <a:spcPts val="20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多元正态分布采样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926080"/>
            <a:ext cx="3291840" cy="182880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108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676"/>
                </a:solidFill>
                <a:latin typeface="微软雅黑"/>
              </a:defRPr>
            </a:pPr>
            <a: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奖励 (Reward)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6118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Σ(基线时间 - 推理时间)</a:t>
            </a:r>
          </a:p>
          <a:p>
            <a:pPr>
              <a:spcAft>
                <a:spcPts val="20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         / 基线时间</a:t>
            </a:r>
          </a:p>
          <a:p>
            <a:pPr>
              <a:spcAft>
                <a:spcPts val="20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时间越短，奖励越大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20640"/>
            <a:ext cx="5303520" cy="137160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B86FC"/>
                </a:solidFill>
                <a:latin typeface="微软雅黑"/>
              </a:defRPr>
            </a:pPr>
            <a:r>
              <a:t>状态衍生 (State Derivation)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692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derived = [ s(t),  mean(buffer),  mean(Δs) ]</a:t>
            </a:r>
            <a:br/>
            <a:r>
              <a:t>原始 2G 维 → 衍生 6G 维 (窗口大小=10)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5120640"/>
            <a:ext cx="5120640" cy="137160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5212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/>
              </a:defRPr>
            </a:pPr>
            <a:r>
              <a:t>Actor-Critic 网络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6692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 b="0">
                <a:solidFill>
                  <a:srgbClr val="B0B8C0"/>
                </a:solidFill>
                <a:latin typeface="微软雅黑"/>
              </a:defRPr>
            </a:pPr>
            <a:r>
              <a:t>输入: state_dim×3  →  隐层: 64  →  Actor: Sigmoid([0,1])</a:t>
            </a:r>
          </a:p>
          <a:p>
            <a:pPr>
              <a:spcAft>
                <a:spcPts val="1600"/>
              </a:spcAft>
              <a:defRPr sz="1300" b="0">
                <a:solidFill>
                  <a:srgbClr val="B0B8C0"/>
                </a:solidFill>
                <a:latin typeface="微软雅黑"/>
              </a:defRPr>
            </a:pPr>
            <a:r>
              <a:t>                                         →  Critic: 状态价值 V(s)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RL 训练架构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502920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微软雅黑"/>
              </a:defRPr>
            </a:pPr>
            <a:r>
              <a:t>RL_serverrun.py  —  训练循环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103120"/>
            <a:ext cx="4389120" cy="1097280"/>
          </a:xfrm>
          <a:prstGeom prst="roundRect">
            <a:avLst/>
          </a:prstGeom>
          <a:solidFill>
            <a:srgbClr val="141B25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945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  <a:latin typeface="微软雅黑"/>
              </a:defRPr>
            </a:pPr>
            <a:r>
              <a:t>PPO.py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6032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微软雅黑"/>
              </a:defRPr>
            </a:pPr>
            <a:r>
              <a:t>Actor-Critic 网络</a:t>
            </a:r>
            <a:br/>
            <a:r>
              <a:t>select_action / update / explore_decay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474720"/>
            <a:ext cx="4389120" cy="1097280"/>
          </a:xfrm>
          <a:prstGeom prst="roundRect">
            <a:avLst/>
          </a:prstGeom>
          <a:solidFill>
            <a:srgbClr val="141B25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5661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微软雅黑"/>
              </a:defRPr>
            </a:pPr>
            <a:r>
              <a:t>RLEnv.py (Env)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93192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微软雅黑"/>
              </a:defRPr>
            </a:pPr>
            <a:r>
              <a:t>reset / step / group (KMeans)</a:t>
            </a:r>
            <a:br/>
            <a:r>
              <a:t>infer (多线程) / calculate_reward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846320"/>
            <a:ext cx="4389120" cy="1097280"/>
          </a:xfrm>
          <a:prstGeom prst="roundRect">
            <a:avLst/>
          </a:prstGeom>
          <a:solidFill>
            <a:srgbClr val="141B25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9377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微软雅黑"/>
              </a:defRPr>
            </a:pPr>
            <a:r>
              <a:t>state_derivation.py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30352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微软雅黑"/>
              </a:defRPr>
            </a:pPr>
            <a:r>
              <a:t>滑窗均值 + 差分</a:t>
            </a:r>
            <a:br/>
            <a:r>
              <a:t>维度扩展 ×3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2004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  <a:latin typeface="微软雅黑"/>
              </a:defRPr>
            </a:pPr>
            <a:r>
              <a:t>◀─▶</a:t>
            </a:r>
            <a:br/>
            <a:r>
              <a:t>Socket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1371600"/>
            <a:ext cx="5029200" cy="502920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微软雅黑"/>
              </a:defRPr>
            </a:pPr>
            <a:r>
              <a:t>RL_clientrun.py  —  客户端集群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2286000"/>
            <a:ext cx="4389120" cy="1005840"/>
          </a:xfrm>
          <a:prstGeom prst="roundRect">
            <a:avLst/>
          </a:prstGeom>
          <a:solidFill>
            <a:srgbClr val="141B25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23774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0E0EF"/>
                </a:solidFill>
                <a:latin typeface="微软雅黑"/>
              </a:defRPr>
            </a:pPr>
            <a:r>
              <a:t>RL_Client  设备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7432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微软雅黑"/>
              </a:defRPr>
            </a:pPr>
            <a:r>
              <a:t>initialize() → infer() → 本地推理/卸载推理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3566160"/>
            <a:ext cx="4389120" cy="1005840"/>
          </a:xfrm>
          <a:prstGeom prst="roundRect">
            <a:avLst/>
          </a:prstGeom>
          <a:solidFill>
            <a:srgbClr val="141B25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36576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0E0EF"/>
                </a:solidFill>
                <a:latin typeface="微软雅黑"/>
              </a:defRPr>
            </a:pPr>
            <a:r>
              <a:t>RL_Client  设备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023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微软雅黑"/>
              </a:defRPr>
            </a:pPr>
            <a:r>
              <a:t>initialize() → infer() → 本地推理/卸载推理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0" y="4846320"/>
            <a:ext cx="4389120" cy="1005840"/>
          </a:xfrm>
          <a:prstGeom prst="roundRect">
            <a:avLst/>
          </a:prstGeom>
          <a:solidFill>
            <a:srgbClr val="141B25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49377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0E0EF"/>
                </a:solidFill>
                <a:latin typeface="微软雅黑"/>
              </a:defRPr>
            </a:pPr>
            <a:r>
              <a:t>RL_Client  设备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53035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微软雅黑"/>
              </a:defRPr>
            </a:pPr>
            <a:r>
              <a:t>initialize() → infer() → 本地推理/卸载推理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6126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微软雅黑"/>
              </a:defRPr>
            </a:pPr>
            <a:r>
              <a:t>correspondence.py — RL 专用 Socket 通信基类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边缘子任务调度算法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411480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微软雅黑"/>
              </a:defRPr>
            </a:pPr>
            <a:r>
              <a:t>阶段一：分类排序</a:t>
            </a:r>
          </a:p>
        </p:txBody>
      </p:sp>
      <p:sp>
        <p:nvSpPr>
          <p:cNvPr id="7" name="Oval 6"/>
          <p:cNvSpPr/>
          <p:nvPr/>
        </p:nvSpPr>
        <p:spPr>
          <a:xfrm>
            <a:off x="3474720" y="150876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D1117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每个边缘节点内部</a:t>
            </a:r>
          </a:p>
          <a:p>
            <a:pPr>
              <a:spcAft>
                <a:spcPts val="22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按 执行时间 vs 传输时间 关系</a:t>
            </a:r>
          </a:p>
          <a:p>
            <a:pPr>
              <a:spcAft>
                <a:spcPts val="22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将子任务分为 A 类和 B 类</a:t>
            </a:r>
          </a:p>
          <a:p>
            <a:pPr>
              <a:spcAft>
                <a:spcPts val="22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A 类：执行时间 ≤ 传输时间</a:t>
            </a:r>
          </a:p>
          <a:p>
            <a:pPr>
              <a:spcAft>
                <a:spcPts val="22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B 类：执行时间 &gt; 传输时间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371600"/>
            <a:ext cx="3474720" cy="411480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500"/>
                </a:solidFill>
                <a:latin typeface="微软雅黑"/>
              </a:defRPr>
            </a:pPr>
            <a:r>
              <a:t>阶段二：A 类优先</a:t>
            </a:r>
          </a:p>
        </p:txBody>
      </p:sp>
      <p:sp>
        <p:nvSpPr>
          <p:cNvPr id="11" name="Oval 10"/>
          <p:cNvSpPr/>
          <p:nvPr/>
        </p:nvSpPr>
        <p:spPr>
          <a:xfrm>
            <a:off x="7223759" y="1508760"/>
            <a:ext cx="411480" cy="41148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D1117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10312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优先调度 A 类任务</a:t>
            </a:r>
          </a:p>
          <a:p>
            <a:pPr>
              <a:spcAft>
                <a:spcPts val="22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串行排程（按顺序放入时间轴）</a:t>
            </a:r>
          </a:p>
          <a:p>
            <a:pPr>
              <a:spcAft>
                <a:spcPts val="22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记录每个任务的结束时间</a:t>
            </a:r>
          </a:p>
          <a:p>
            <a:pPr>
              <a:spcAft>
                <a:spcPts val="22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为后续任务确定可用时间窗口</a:t>
            </a:r>
          </a:p>
          <a:p>
            <a:pPr>
              <a:spcAft>
                <a:spcPts val="22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474720" cy="411480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微软雅黑"/>
              </a:defRPr>
            </a:pPr>
            <a:r>
              <a:t>阶段三：贪心插入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0" y="1508760"/>
            <a:ext cx="411480" cy="41148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D1117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对非 A 类（B 类）任务</a:t>
            </a:r>
          </a:p>
          <a:p>
            <a:pPr>
              <a:spcAft>
                <a:spcPts val="22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按「全局最小等待时间」贪心插入</a:t>
            </a:r>
          </a:p>
          <a:p>
            <a:pPr>
              <a:spcAft>
                <a:spcPts val="22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find_min_wait_time() 寻找</a:t>
            </a:r>
          </a:p>
          <a:p>
            <a:pPr>
              <a:spcAft>
                <a:spcPts val="22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最优的插入位置和时间槽</a:t>
            </a:r>
          </a:p>
          <a:p>
            <a:pPr>
              <a:spcAft>
                <a:spcPts val="2200"/>
              </a:spcAft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目标：最小化总完成时间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760720"/>
            <a:ext cx="10972800" cy="731520"/>
          </a:xfrm>
          <a:prstGeom prst="roundRect">
            <a:avLst/>
          </a:prstGeom>
          <a:solidFill>
            <a:srgbClr val="141B25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86FC"/>
                </a:solidFill>
                <a:latin typeface="微软雅黑"/>
              </a:defRPr>
            </a:pPr>
            <a:r>
              <a:t>核心函数：scheduling_subtasks_ess()  ·  sort_edges()  ·  find_min_wait_time()  ·  print_ess()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实验变体 &amp; 本地推理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微软雅黑"/>
              </a:defRPr>
            </a:pPr>
            <a:r>
              <a:t>RL 变体模块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669280" cy="77724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onsolas"/>
              </a:defRPr>
            </a:pPr>
            <a:r>
              <a:t>RL/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PPO + 滑窗状态衍生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042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0"/>
                </a:solidFill>
                <a:latin typeface="微软雅黑"/>
              </a:defRPr>
            </a:pPr>
            <a:r>
              <a:t>核心方法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5669280" cy="77724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00"/>
                </a:solidFill>
                <a:latin typeface="Consolas"/>
              </a:defRPr>
            </a:pPr>
            <a:r>
              <a:t>RL_multiple/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PPO + 多客户端扩展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186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0"/>
                </a:solidFill>
                <a:latin typeface="微软雅黑"/>
              </a:defRPr>
            </a:pPr>
            <a:r>
              <a:t>扩展实验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5669280" cy="77724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94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86FC"/>
                </a:solidFill>
                <a:latin typeface="Consolas"/>
              </a:defRPr>
            </a:pPr>
            <a:r>
              <a:t>RL_IAF/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7947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PPO + IAF 状态衍生 (LSTM)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33087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0"/>
                </a:solidFill>
                <a:latin typeface="微软雅黑"/>
              </a:defRPr>
            </a:pPr>
            <a:r>
              <a:t>实验性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63440"/>
            <a:ext cx="5669280" cy="77724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09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onsolas"/>
              </a:defRPr>
            </a:pPr>
            <a:r>
              <a:t>local_inference/RL/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709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DQN / 优化 DQN / GRU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474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0"/>
                </a:solidFill>
                <a:latin typeface="微软雅黑"/>
              </a:defRPr>
            </a:pPr>
            <a:r>
              <a:t>备选算法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微软雅黑"/>
              </a:defRPr>
            </a:pPr>
            <a:r>
              <a:t>本地推理实验 (local_inference/)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920240"/>
            <a:ext cx="4846320" cy="640080"/>
          </a:xfrm>
          <a:prstGeom prst="round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0E0EF"/>
                </a:solidFill>
                <a:latin typeface="Consolas"/>
              </a:defRPr>
            </a:pPr>
            <a:r>
              <a:t>single_data_from_server/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240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0"/>
                </a:solidFill>
                <a:latin typeface="微软雅黑"/>
              </a:defRPr>
            </a:pPr>
            <a:r>
              <a:t>基础链式推理（数据在服务端）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2670048"/>
            <a:ext cx="4846320" cy="640080"/>
          </a:xfrm>
          <a:prstGeom prst="round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27157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0E0EF"/>
                </a:solidFill>
                <a:latin typeface="Consolas"/>
              </a:defRPr>
            </a:pPr>
            <a:r>
              <a:t>single_data_from_client/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9900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0"/>
                </a:solidFill>
                <a:latin typeface="微软雅黑"/>
              </a:defRPr>
            </a:pPr>
            <a:r>
              <a:t>基础链式推理（数据在客户端）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3419856"/>
            <a:ext cx="4846320" cy="640080"/>
          </a:xfrm>
          <a:prstGeom prst="round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34655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0E0EF"/>
                </a:solidFill>
                <a:latin typeface="Consolas"/>
              </a:defRPr>
            </a:pPr>
            <a:r>
              <a:t>single_data_from_server_recycle/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7398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0"/>
                </a:solidFill>
                <a:latin typeface="微软雅黑"/>
              </a:defRPr>
            </a:pPr>
            <a:r>
              <a:t>带回收聚合的推理变体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4169664"/>
            <a:ext cx="4846320" cy="640080"/>
          </a:xfrm>
          <a:prstGeom prst="round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42153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0E0EF"/>
                </a:solidFill>
                <a:latin typeface="Consolas"/>
              </a:defRPr>
            </a:pPr>
            <a:r>
              <a:t>single_data_from_server_RL/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4897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0"/>
                </a:solidFill>
                <a:latin typeface="微软雅黑"/>
              </a:defRPr>
            </a:pPr>
            <a:r>
              <a:t>Gym FederatedEnv + PPO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0" y="4919472"/>
            <a:ext cx="4846320" cy="640080"/>
          </a:xfrm>
          <a:prstGeom prst="round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49651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0E0EF"/>
                </a:solidFill>
                <a:latin typeface="Consolas"/>
              </a:defRPr>
            </a:pPr>
            <a:r>
              <a:t>multiple_task_from_server/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52395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0"/>
                </a:solidFill>
                <a:latin typeface="微软雅黑"/>
              </a:defRPr>
            </a:pPr>
            <a:r>
              <a:t>多任务 + Barrier 同步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0" y="5669279"/>
            <a:ext cx="4846320" cy="640080"/>
          </a:xfrm>
          <a:prstGeom prst="round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571499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0E0EF"/>
                </a:solidFill>
                <a:latin typeface="Consolas"/>
              </a:defRPr>
            </a:pPr>
            <a:r>
              <a:t>rl_data_from_server/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59893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0"/>
                </a:solidFill>
                <a:latin typeface="微软雅黑"/>
              </a:defRPr>
            </a:pPr>
            <a:r>
              <a:t>Dueling DQN + 服务端数据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0" y="6126480"/>
            <a:ext cx="4846320" cy="365760"/>
          </a:xfrm>
          <a:prstGeom prst="roundRect">
            <a:avLst/>
          </a:prstGeom>
          <a:solidFill>
            <a:srgbClr val="14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0" y="6172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0"/>
                </a:solidFill>
                <a:latin typeface="微软雅黑"/>
              </a:defRPr>
            </a:pPr>
            <a:r>
              <a:t>scientific_research_drawing/ — matplotlib 论文绘图脚本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配置说明 &amp; 运行方式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5943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920240"/>
              </a:tblGrid>
              <a:tr h="3860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D1117"/>
                          </a:solidFill>
                          <a:latin typeface="Consolas"/>
                        </a:defRPr>
                      </a:pPr>
                      <a:r>
                        <a:t>配置项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D1117"/>
                          </a:solidFill>
                          <a:latin typeface="微软雅黑"/>
                        </a:defRPr>
                      </a:pPr>
                      <a:r>
                        <a:t>默认值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D1117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SERVER_ADDR / PORT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192.168.215.128:51000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协调端地址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server_list</a:t>
                      </a:r>
                    </a:p>
                  </a:txBody>
                  <a:tcPr anchor="ctr">
                    <a:solidFill>
                      <a:srgbClr val="141B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4 台设备</a:t>
                      </a:r>
                    </a:p>
                  </a:txBody>
                  <a:tcPr anchor="ctr">
                    <a:solidFill>
                      <a:srgbClr val="141B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边缘设备列表 (IP/SSH/端口)</a:t>
                      </a:r>
                    </a:p>
                  </a:txBody>
                  <a:tcPr anchor="ctr">
                    <a:solidFill>
                      <a:srgbClr val="141B2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N / B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10000 / 256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数据总量 / 批次大小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K / G</a:t>
                      </a:r>
                    </a:p>
                  </a:txBody>
                  <a:tcPr anchor="ctr">
                    <a:solidFill>
                      <a:srgbClr val="141B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4 / 3</a:t>
                      </a:r>
                    </a:p>
                  </a:txBody>
                  <a:tcPr anchor="ctr">
                    <a:solidFill>
                      <a:srgbClr val="141B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设备数 / 分组数</a:t>
                      </a:r>
                    </a:p>
                  </a:txBody>
                  <a:tcPr anchor="ctr">
                    <a:solidFill>
                      <a:srgbClr val="141B2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split_layer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[6, 6, 6]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初始分割层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max_episodes</a:t>
                      </a:r>
                    </a:p>
                  </a:txBody>
                  <a:tcPr anchor="ctr">
                    <a:solidFill>
                      <a:srgbClr val="141B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141B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RL 最大训练回合</a:t>
                      </a:r>
                    </a:p>
                  </a:txBody>
                  <a:tcPr anchor="ctr">
                    <a:solidFill>
                      <a:srgbClr val="141B2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K_epochs / eps_clip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50 / 0.2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PPO 更新迭代 / 裁剪参数</a:t>
                      </a:r>
                    </a:p>
                  </a:txBody>
                  <a:tcPr anchor="ctr">
                    <a:solidFill>
                      <a:srgbClr val="1A222E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window_size</a:t>
                      </a:r>
                    </a:p>
                  </a:txBody>
                  <a:tcPr anchor="ctr">
                    <a:solidFill>
                      <a:srgbClr val="141B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141B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状态衍生窗口大小</a:t>
                      </a:r>
                    </a:p>
                  </a:txBody>
                  <a:tcPr anchor="ctr">
                    <a:solidFill>
                      <a:srgbClr val="141B2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132320" y="1371600"/>
            <a:ext cx="4572000" cy="493776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463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微软雅黑"/>
              </a:defRPr>
            </a:pPr>
            <a:r>
              <a:t>运行方式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微软雅黑"/>
              </a:defRPr>
            </a:pPr>
            <a:r>
              <a:t>① 分布式推理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33172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90E0EF"/>
                </a:solidFill>
                <a:latin typeface="Consolas"/>
              </a:defRPr>
            </a:pPr>
            <a:r>
              <a:t># 先启动客户端</a:t>
            </a:r>
          </a:p>
          <a:p>
            <a:pPr>
              <a:spcAft>
                <a:spcPts val="1400"/>
              </a:spcAft>
              <a:defRPr sz="1100" b="0">
                <a:solidFill>
                  <a:srgbClr val="90E0EF"/>
                </a:solidFill>
                <a:latin typeface="Consolas"/>
              </a:defRPr>
            </a:pPr>
            <a:r>
              <a:t>python client.py</a:t>
            </a:r>
          </a:p>
          <a:p>
            <a:pPr>
              <a:spcAft>
                <a:spcPts val="1400"/>
              </a:spcAft>
              <a:defRPr sz="1100" b="0">
                <a:solidFill>
                  <a:srgbClr val="90E0EF"/>
                </a:solidFill>
                <a:latin typeface="Consolas"/>
              </a:defRPr>
            </a:pPr>
            <a:r>
              <a:t># 再启动服务端</a:t>
            </a:r>
          </a:p>
          <a:p>
            <a:pPr>
              <a:spcAft>
                <a:spcPts val="1400"/>
              </a:spcAft>
              <a:defRPr sz="1100" b="0">
                <a:solidFill>
                  <a:srgbClr val="90E0EF"/>
                </a:solidFill>
                <a:latin typeface="Consolas"/>
              </a:defRPr>
            </a:pPr>
            <a:r>
              <a:t>python server.py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429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微软雅黑"/>
              </a:defRPr>
            </a:pPr>
            <a:r>
              <a:t>② RL 训练 (PPO)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749040"/>
            <a:ext cx="39319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90E0EF"/>
                </a:solidFill>
                <a:latin typeface="Consolas"/>
              </a:defRPr>
            </a:pPr>
            <a:r>
              <a:t>cd RL/</a:t>
            </a:r>
          </a:p>
          <a:p>
            <a:pPr>
              <a:spcAft>
                <a:spcPts val="1400"/>
              </a:spcAft>
              <a:defRPr sz="1100" b="0">
                <a:solidFill>
                  <a:srgbClr val="90E0EF"/>
                </a:solidFill>
                <a:latin typeface="Consolas"/>
              </a:defRPr>
            </a:pPr>
            <a:r>
              <a:t>python RL_serverrun.py</a:t>
            </a:r>
          </a:p>
          <a:p>
            <a:pPr>
              <a:spcAft>
                <a:spcPts val="1400"/>
              </a:spcAft>
              <a:defRPr sz="1100" b="0">
                <a:solidFill>
                  <a:srgbClr val="90E0EF"/>
                </a:solidFill>
                <a:latin typeface="Consolas"/>
              </a:defRPr>
            </a:pPr>
            <a:r>
              <a:t>python RL_clientrun.py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617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86FC"/>
                </a:solidFill>
                <a:latin typeface="微软雅黑"/>
              </a:defRPr>
            </a:pPr>
            <a:r>
              <a:t>③ 本地测试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93776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90E0EF"/>
                </a:solidFill>
                <a:latin typeface="Consolas"/>
              </a:defRPr>
            </a:pPr>
            <a:r>
              <a:t>cd local_inference/</a:t>
            </a:r>
          </a:p>
          <a:p>
            <a:pPr>
              <a:spcAft>
                <a:spcPts val="1400"/>
              </a:spcAft>
              <a:defRPr sz="1100" b="0">
                <a:solidFill>
                  <a:srgbClr val="90E0EF"/>
                </a:solidFill>
                <a:latin typeface="Consolas"/>
              </a:defRPr>
            </a:pPr>
            <a:r>
              <a:t>single_data_from_server/</a:t>
            </a:r>
          </a:p>
          <a:p>
            <a:pPr>
              <a:spcAft>
                <a:spcPts val="1400"/>
              </a:spcAft>
              <a:defRPr sz="1100" b="0">
                <a:solidFill>
                  <a:srgbClr val="90E0EF"/>
                </a:solidFill>
                <a:latin typeface="Consolas"/>
              </a:defRPr>
            </a:pPr>
            <a:r>
              <a:t>python server.py</a:t>
            </a:r>
          </a:p>
          <a:p>
            <a:pPr>
              <a:spcAft>
                <a:spcPts val="1400"/>
              </a:spcAft>
              <a:defRPr sz="1100" b="0">
                <a:solidFill>
                  <a:srgbClr val="90E0EF"/>
                </a:solidFill>
                <a:latin typeface="Consolas"/>
              </a:defRPr>
            </a:pPr>
            <a:r>
              <a:t>python client_1/2/3.py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技术栈 &amp; 依赖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228600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A500"/>
                </a:solidFill>
                <a:latin typeface="微软雅黑"/>
              </a:defRPr>
            </a:pPr>
            <a:r>
              <a:t>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PyTorch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深度学习框架</a:t>
            </a:r>
            <a:br/>
            <a:r>
              <a:t>模型构建与训练</a:t>
            </a:r>
            <a:br/>
            <a:r>
              <a:t>torch==1.10.0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371600"/>
            <a:ext cx="3383280" cy="228600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B4D8"/>
                </a:solidFill>
                <a:latin typeface="微软雅黑"/>
              </a:defRPr>
            </a:pPr>
            <a:r>
              <a:t>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19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Socket + Pickle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14884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节点间 TCP 通信</a:t>
            </a:r>
            <a:br/>
            <a:r>
              <a:t>4字节长度头协议</a:t>
            </a:r>
            <a:br/>
            <a:r>
              <a:t>链式中间激活传递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383280" cy="228600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E676"/>
                </a:solidFill>
                <a:latin typeface="微软雅黑"/>
              </a:defRPr>
            </a:pPr>
            <a:r>
              <a:t>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Paramiko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14884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SSH 远程命令</a:t>
            </a:r>
            <a:br/>
            <a:r>
              <a:t>采集 CPU/GPU/内存</a:t>
            </a:r>
            <a:br/>
            <a:r>
              <a:t>网络利用率信息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3383280" cy="228600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97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BB86FC"/>
                </a:solidFill>
                <a:latin typeface="微软雅黑"/>
              </a:defRPr>
            </a:pPr>
            <a:r>
              <a:t>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PPO (RL)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9204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Actor-Critic 策略</a:t>
            </a:r>
            <a:br/>
            <a:r>
              <a:t>自动分割优化</a:t>
            </a:r>
            <a:br/>
            <a:r>
              <a:t>探索衰减机制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4114800"/>
            <a:ext cx="3383280" cy="228600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79" y="4297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0E0EF"/>
                </a:solidFill>
                <a:latin typeface="微软雅黑"/>
              </a:defRPr>
            </a:pPr>
            <a: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19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Scikit-learn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489204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KMeans 聚类</a:t>
            </a:r>
            <a:br/>
            <a:r>
              <a:t>客户端自动分组</a:t>
            </a:r>
            <a:br/>
            <a:r>
              <a:t>v1.3.0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114800"/>
            <a:ext cx="3383280" cy="2286000"/>
          </a:xfrm>
          <a:prstGeom prst="roundRect">
            <a:avLst/>
          </a:prstGeom>
          <a:solidFill>
            <a:srgbClr val="1A222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4297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A500"/>
                </a:solidFill>
                <a:latin typeface="微软雅黑"/>
              </a:defRPr>
            </a:pPr>
            <a:r>
              <a:t>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Matplotlib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89204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0"/>
                </a:solidFill>
                <a:latin typeface="微软雅黑"/>
              </a:defRPr>
            </a:pPr>
            <a:r>
              <a:t>科研论文绘图</a:t>
            </a:r>
            <a:br/>
            <a:r>
              <a:t>对比实验可视化</a:t>
            </a:r>
            <a:br/>
            <a:r>
              <a:t>v3.7.3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B4D8"/>
                </a:solidFill>
                <a:latin typeface="微软雅黑"/>
              </a:defRPr>
            </a:pPr>
            <a:r>
              <a:t>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560320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24871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/>
              </a:defRPr>
            </a:pPr>
            <a:r>
              <a:t>模型分割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48716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0"/>
                </a:solidFill>
                <a:latin typeface="微软雅黑"/>
              </a:defRPr>
            </a:pPr>
            <a:r>
              <a:t>VGG5 按层切分到多个边缘节点，链式协同推理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218687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314553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/>
              </a:defRPr>
            </a:pPr>
            <a:r>
              <a:t>资源感知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145535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0"/>
                </a:solidFill>
                <a:latin typeface="微软雅黑"/>
              </a:defRPr>
            </a:pPr>
            <a:r>
              <a:t>SSH 采集节点资源，动态计算最优分割点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877056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38039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/>
              </a:defRPr>
            </a:pPr>
            <a:r>
              <a:t>PPO 自动优化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80390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0"/>
                </a:solidFill>
                <a:latin typeface="微软雅黑"/>
              </a:defRPr>
            </a:pPr>
            <a:r>
              <a:t>Actor-Critic 网络 + 状态衍生，自动学习分割策略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535424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44622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/>
              </a:defRPr>
            </a:pPr>
            <a:r>
              <a:t>子任务调度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46227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0"/>
                </a:solidFill>
                <a:latin typeface="微软雅黑"/>
              </a:defRPr>
            </a:pPr>
            <a:r>
              <a:t>三阶段算法：分类排序 → A类优先 → 贪心插入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5193792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/>
              </a:defRPr>
            </a:pPr>
            <a:r>
              <a:t>丰富实验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1206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0"/>
                </a:solidFill>
                <a:latin typeface="微软雅黑"/>
              </a:defRPr>
            </a:pPr>
            <a:r>
              <a:t>DQN / Dueling DQN / IAF / Gym 等多种变体对比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5852159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37360" y="577900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/>
              </a:defRPr>
            </a:pPr>
            <a:r>
              <a:t>通信框架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779007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0"/>
                </a:solidFill>
                <a:latin typeface="微软雅黑"/>
              </a:defRPr>
            </a:pPr>
            <a:r>
              <a:t>TCP Socket + Pickle 高效传输中间激活张量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6217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0E0EF"/>
                </a:solidFill>
                <a:latin typeface="微软雅黑"/>
              </a:defRPr>
            </a:pPr>
            <a:r>
              <a:t>SynerGist — 多服务器间模型推理的协同精髓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